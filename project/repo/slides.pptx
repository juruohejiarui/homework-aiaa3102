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Noto Serif SC" charset="-122" pitchFamily="34"/>
      <p:regular r:id="rId19"/>
    </p:embeddedFont>
    <p:embeddedFont>
      <p:font typeface="Noto Sans SC" charset="-122" pitchFamily="34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1778000" y="31750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E3A8A"/>
                </a:solidFill>
                <a:latin typeface="Noto Serif SC" pitchFamily="34" charset="0"/>
                <a:ea typeface="SimSun" pitchFamily="34" charset="-122"/>
                <a:cs typeface="Noto Serif SC" pitchFamily="34" charset="-120"/>
              </a:rPr>
              <a:t>Text Classification Pipeline Forensics</a:t>
            </a:r>
            <a:endParaRPr lang="en-US" sz="4000" dirty="0"/>
          </a:p>
        </p:txBody>
      </p:sp>
      <p:sp>
        <p:nvSpPr>
          <p:cNvPr id="4" name="cover-text-3"/>
          <p:cNvSpPr/>
          <p:nvPr/>
        </p:nvSpPr>
        <p:spPr>
          <a:xfrm>
            <a:off x="1778000" y="457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Reproducibility, Shortcut Sensitivity, and Data Quality in Disaster Tweets</a:t>
            </a:r>
            <a:endParaRPr lang="en-US" sz="2200" dirty="0"/>
          </a:p>
        </p:txBody>
      </p:sp>
      <p:sp>
        <p:nvSpPr>
          <p:cNvPr id="5" name="cover-shape-4"/>
          <p:cNvSpPr/>
          <p:nvPr/>
        </p:nvSpPr>
        <p:spPr>
          <a:xfrm>
            <a:off x="6858000" y="5842000"/>
            <a:ext cx="2540000" cy="9144"/>
          </a:xfrm>
          <a:prstGeom prst="line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6" name="cover-text-5"/>
          <p:cNvSpPr/>
          <p:nvPr/>
        </p:nvSpPr>
        <p:spPr>
          <a:xfrm>
            <a:off x="1778000" y="6223000"/>
            <a:ext cx="127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AIAA 3102 · Topic A · Kaggle Disaster Tweets Classification</a:t>
            </a:r>
            <a:endParaRPr lang="en-US" sz="1800" dirty="0"/>
          </a:p>
        </p:txBody>
      </p:sp>
      <p:sp>
        <p:nvSpPr>
          <p:cNvPr id="7" name="cover-text-6"/>
          <p:cNvSpPr/>
          <p:nvPr/>
        </p:nvSpPr>
        <p:spPr>
          <a:xfrm>
            <a:off x="1778000" y="7874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text classification · reproducibility · error analysis · dataset shortcuts · decision thresholds · data quality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_goal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problem_goal-text-2"/>
          <p:cNvSpPr/>
          <p:nvPr/>
        </p:nvSpPr>
        <p:spPr>
          <a:xfrm>
            <a:off x="1016000" y="50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 Higher Score Is Not the Same as a Trustworthy Improvement</a:t>
            </a:r>
            <a:endParaRPr lang="en-US" sz="2700" dirty="0"/>
          </a:p>
        </p:txBody>
      </p:sp>
      <p:sp>
        <p:nvSpPr>
          <p:cNvPr id="4" name="problem_goal-shape-3"/>
          <p:cNvSpPr/>
          <p:nvPr/>
        </p:nvSpPr>
        <p:spPr>
          <a:xfrm>
            <a:off x="8128000" y="1778000"/>
            <a:ext cx="9144" cy="6096000"/>
          </a:xfrm>
          <a:prstGeom prst="line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5" name="problem_goal-text-4"/>
          <p:cNvSpPr/>
          <p:nvPr/>
        </p:nvSpPr>
        <p:spPr>
          <a:xfrm>
            <a:off x="1016000" y="17780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Background</a:t>
            </a:r>
            <a:endParaRPr lang="en-US" sz="1900" dirty="0"/>
          </a:p>
        </p:txBody>
      </p:sp>
      <p:sp>
        <p:nvSpPr>
          <p:cNvPr id="6" name="problem_goal-text-5"/>
          <p:cNvSpPr/>
          <p:nvPr/>
        </p:nvSpPr>
        <p:spPr>
          <a:xfrm>
            <a:off x="1016000" y="23495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Task: binary classification of Kaggle disaster tweets, where target=1 marks a tweet describing a real disaster and target=0 marks it as unrelated.</a:t>
            </a:r>
            <a:endParaRPr lang="en-US" sz="1700" dirty="0"/>
          </a:p>
          <a:p>
            <a:pPr algn="l" indent="0" marL="0">
              <a:lnSpc>
                <a:spcPts val="2635"/>
              </a:lnSpc>
              <a:spcBef>
                <a:spcPts val="1000"/>
              </a:spcBef>
              <a:buNone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The task is deliberately forensic: a score increase can arise from several unrelated sources, including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noise in the fixed data split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 decision threshold that happens to fit the metric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metadata that exposes a baseline shortcut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label inconsistencies that change what the metric rewards</a:t>
            </a:r>
            <a:endParaRPr lang="en-US" sz="1700" dirty="0"/>
          </a:p>
        </p:txBody>
      </p:sp>
      <p:sp>
        <p:nvSpPr>
          <p:cNvPr id="7" name="problem_goal-text-6"/>
          <p:cNvSpPr/>
          <p:nvPr/>
        </p:nvSpPr>
        <p:spPr>
          <a:xfrm>
            <a:off x="8382000" y="17780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Research Objectives</a:t>
            </a:r>
            <a:endParaRPr lang="en-US" sz="1900" dirty="0"/>
          </a:p>
        </p:txBody>
      </p:sp>
      <p:sp>
        <p:nvSpPr>
          <p:cNvPr id="8" name="problem_goal-text-7"/>
          <p:cNvSpPr/>
          <p:nvPr/>
        </p:nvSpPr>
        <p:spPr>
          <a:xfrm>
            <a:off x="8382000" y="23495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Every proposed improvement is tied to four categories of evidence: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 controlled, predeclared intended lever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dev-set metrics and prediction transitions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row-level case evidence keyed by stable ID</a:t>
            </a:r>
            <a:endParaRPr lang="en-US" sz="1700" dirty="0"/>
          </a:p>
          <a:p>
            <a:pPr algn="l" marL="269875" indent="-269875">
              <a:lnSpc>
                <a:spcPts val="2635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 held-out report produced only after freezing</a:t>
            </a:r>
            <a:endParaRPr lang="en-US" sz="1700" dirty="0"/>
          </a:p>
          <a:p>
            <a:pPr algn="l" indent="0" marL="0">
              <a:lnSpc>
                <a:spcPts val="2635"/>
              </a:lnSpc>
              <a:spcBef>
                <a:spcPts val="1000"/>
              </a:spcBef>
              <a:buNone/>
            </a:pPr>
            <a:r>
              <a:rPr lang="en-US" sz="17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Five tickets cover baseline reproduction, text normalization, feature shortcuts, decision-rule tuning, and data-quality auditing.</a:t>
            </a:r>
            <a:endParaRPr lang="en-US" sz="1700" dirty="0"/>
          </a:p>
        </p:txBody>
      </p:sp>
      <p:sp>
        <p:nvSpPr>
          <p:cNvPr id="9" name="problem_goal-shape-8"/>
          <p:cNvSpPr/>
          <p:nvPr/>
        </p:nvSpPr>
        <p:spPr>
          <a:xfrm>
            <a:off x="1016000" y="5969000"/>
            <a:ext cx="14224000" cy="177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problem_goal-text-9"/>
          <p:cNvSpPr/>
          <p:nvPr/>
        </p:nvSpPr>
        <p:spPr>
          <a:xfrm>
            <a:off x="1397000" y="6223000"/>
            <a:ext cx="1346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"The unifying question was not which row of a score table was largest, but which conclusions remained defensible when prediction movements, perturbation behavior, data provenance, and unresolved uncertainty were considered together."</a:t>
            </a:r>
            <a:endParaRPr lang="en-US" sz="1600" dirty="0"/>
          </a:p>
        </p:txBody>
      </p:sp>
      <p:sp>
        <p:nvSpPr>
          <p:cNvPr id="11" name="problem_goal-text-10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set_framework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dataset_framework-text-2"/>
          <p:cNvSpPr/>
          <p:nvPr/>
        </p:nvSpPr>
        <p:spPr>
          <a:xfrm>
            <a:off x="1016000" y="50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Fixed-ID Splits and a Freeze-Before-Reveal Protocol Prevent Held-Out Leakage</a:t>
            </a:r>
            <a:endParaRPr lang="en-US" sz="2600" dirty="0"/>
          </a:p>
        </p:txBody>
      </p:sp>
      <p:graphicFrame>
        <p:nvGraphicFramePr>
          <p:cNvPr id="4" name="dataset_framework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651000"/>
          <a:ext cx="14224000" cy="19050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  <a:gridCol w="3556000"/>
              </a:tblGrid>
              <a:tr h="508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Split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Rows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Target = 0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Target = 1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56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Train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4,567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2,614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1,953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6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Dev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1,523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868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655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6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Held-out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1,523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868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655</a:t>
                      </a:r>
                      <a:endParaRPr lang="en-US" sz="16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dataset_framework-text-4"/>
          <p:cNvSpPr/>
          <p:nvPr/>
        </p:nvSpPr>
        <p:spPr>
          <a:xfrm>
            <a:off x="1016000" y="3657600"/>
            <a:ext cx="142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Total 7,613 unique Kaggle IDs. Membership is resolved by stable ID, never by row position.</a:t>
            </a:r>
            <a:endParaRPr lang="en-US" sz="1300" dirty="0"/>
          </a:p>
        </p:txBody>
      </p:sp>
      <p:sp>
        <p:nvSpPr>
          <p:cNvPr id="6" name="dataset_framework-text-5"/>
          <p:cNvSpPr/>
          <p:nvPr/>
        </p:nvSpPr>
        <p:spPr>
          <a:xfrm>
            <a:off x="1016000" y="42545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Every ticket follows the same freeze protocol</a:t>
            </a:r>
            <a:endParaRPr lang="en-US" sz="1800" dirty="0"/>
          </a:p>
        </p:txBody>
      </p:sp>
      <p:sp>
        <p:nvSpPr>
          <p:cNvPr id="7" name="dataset_framework-shape-6"/>
          <p:cNvSpPr/>
          <p:nvPr/>
        </p:nvSpPr>
        <p:spPr>
          <a:xfrm>
            <a:off x="1016000" y="4889500"/>
            <a:ext cx="3175000" cy="114300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dataset_framework-text-7"/>
          <p:cNvSpPr/>
          <p:nvPr/>
        </p:nvSpPr>
        <p:spPr>
          <a:xfrm>
            <a:off x="1016000" y="4889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Predeclare hypotheses and bounded candidates</a:t>
            </a:r>
            <a:endParaRPr lang="en-US" sz="1500" dirty="0"/>
          </a:p>
        </p:txBody>
      </p:sp>
      <p:sp>
        <p:nvSpPr>
          <p:cNvPr id="9" name="dataset_framework-shape-8"/>
          <p:cNvSpPr/>
          <p:nvPr/>
        </p:nvSpPr>
        <p:spPr>
          <a:xfrm>
            <a:off x="4191000" y="5461000"/>
            <a:ext cx="762000" cy="9144"/>
          </a:xfrm>
          <a:prstGeom prst="line">
            <a:avLst/>
          </a:prstGeom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0" name="dataset_framework-shape-9"/>
          <p:cNvSpPr/>
          <p:nvPr/>
        </p:nvSpPr>
        <p:spPr>
          <a:xfrm>
            <a:off x="4953000" y="4889500"/>
            <a:ext cx="3175000" cy="114300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dataset_framework-text-10"/>
          <p:cNvSpPr/>
          <p:nvPr/>
        </p:nvSpPr>
        <p:spPr>
          <a:xfrm>
            <a:off x="4953000" y="4889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Select using dev set only (1,523 rows)</a:t>
            </a:r>
            <a:endParaRPr lang="en-US" sz="1500" dirty="0"/>
          </a:p>
        </p:txBody>
      </p:sp>
      <p:sp>
        <p:nvSpPr>
          <p:cNvPr id="12" name="dataset_framework-shape-11"/>
          <p:cNvSpPr/>
          <p:nvPr/>
        </p:nvSpPr>
        <p:spPr>
          <a:xfrm>
            <a:off x="8128000" y="5461000"/>
            <a:ext cx="762000" cy="9144"/>
          </a:xfrm>
          <a:prstGeom prst="line">
            <a:avLst/>
          </a:prstGeom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3" name="dataset_framework-shape-12"/>
          <p:cNvSpPr/>
          <p:nvPr/>
        </p:nvSpPr>
        <p:spPr>
          <a:xfrm>
            <a:off x="8890000" y="4889500"/>
            <a:ext cx="3175000" cy="114300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dataset_framework-text-13"/>
          <p:cNvSpPr/>
          <p:nvPr/>
        </p:nvSpPr>
        <p:spPr>
          <a:xfrm>
            <a:off x="8890000" y="4889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Freeze decision and configuration to disk</a:t>
            </a:r>
            <a:endParaRPr lang="en-US" sz="1500" dirty="0"/>
          </a:p>
        </p:txBody>
      </p:sp>
      <p:sp>
        <p:nvSpPr>
          <p:cNvPr id="15" name="dataset_framework-shape-14"/>
          <p:cNvSpPr/>
          <p:nvPr/>
        </p:nvSpPr>
        <p:spPr>
          <a:xfrm>
            <a:off x="12065000" y="5461000"/>
            <a:ext cx="762000" cy="9144"/>
          </a:xfrm>
          <a:prstGeom prst="line">
            <a:avLst/>
          </a:prstGeom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6" name="dataset_framework-shape-15"/>
          <p:cNvSpPr/>
          <p:nvPr/>
        </p:nvSpPr>
        <p:spPr>
          <a:xfrm>
            <a:off x="12827000" y="4889500"/>
            <a:ext cx="2413000" cy="1143000"/>
          </a:xfrm>
          <a:prstGeom prst="roundRect">
            <a:avLst>
              <a:gd name="adj" fmla="val 8889"/>
            </a:avLst>
          </a:prstGeom>
          <a:solidFill>
            <a:srgbClr val="1E3A8A"/>
          </a:solidFill>
          <a:ln/>
        </p:spPr>
      </p:sp>
      <p:sp>
        <p:nvSpPr>
          <p:cNvPr id="17" name="dataset_framework-text-16"/>
          <p:cNvSpPr/>
          <p:nvPr/>
        </p:nvSpPr>
        <p:spPr>
          <a:xfrm>
            <a:off x="12827000" y="4889500"/>
            <a:ext cx="241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Report held-out once</a:t>
            </a:r>
            <a:endParaRPr lang="en-US" sz="1500" dirty="0"/>
          </a:p>
        </p:txBody>
      </p:sp>
      <p:sp>
        <p:nvSpPr>
          <p:cNvPr id="18" name="dataset_framework-text-17"/>
          <p:cNvSpPr/>
          <p:nvPr/>
        </p:nvSpPr>
        <p:spPr>
          <a:xfrm>
            <a:off x="1016000" y="6477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All error transitions in every ticket are compared against the same frozen Ticket 1 raw-text baseline. Five independent clean-process replays reproduced every label exactly, with maximum score drift of 1.11 × 10</a:t>
            </a:r>
            <a:r>
              <a:rPr lang="en-US" sz="1600" baseline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-16</a:t>
            </a:r>
            <a:r>
              <a:rPr lang="en-US" sz="16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, well inside the declared 10</a:t>
            </a:r>
            <a:r>
              <a:rPr lang="en-US" sz="1600" baseline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-12</a:t>
            </a:r>
            <a:r>
              <a:rPr lang="en-US" sz="16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tolerance.</a:t>
            </a:r>
            <a:endParaRPr lang="en-US" sz="1600" dirty="0"/>
          </a:p>
        </p:txBody>
      </p:sp>
      <p:sp>
        <p:nvSpPr>
          <p:cNvPr id="19" name="dataset_framework-shape-18"/>
          <p:cNvSpPr/>
          <p:nvPr/>
        </p:nvSpPr>
        <p:spPr>
          <a:xfrm>
            <a:off x="1016000" y="7620000"/>
            <a:ext cx="14224000" cy="127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dataset_framework-text-19"/>
          <p:cNvSpPr/>
          <p:nvPr/>
        </p:nvSpPr>
        <p:spPr>
          <a:xfrm>
            <a:off x="1016000" y="7797800"/>
            <a:ext cx="127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Source: report_outline.md · experiments/*/frozen_decision.json</a:t>
            </a:r>
            <a:endParaRPr lang="en-US" sz="1300" dirty="0"/>
          </a:p>
        </p:txBody>
      </p:sp>
      <p:sp>
        <p:nvSpPr>
          <p:cNvPr id="21" name="dataset_framework-text-20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et1_baseline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icket1_baseline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1: The Local Baseline Reproduces Deterministically but Leaves an Unresolved Gap to the Reference</a:t>
            </a:r>
            <a:endParaRPr lang="en-US" sz="2400" dirty="0"/>
          </a:p>
        </p:txBody>
      </p:sp>
      <p:sp>
        <p:nvSpPr>
          <p:cNvPr id="4" name="ticket1_baseline-text-3"/>
          <p:cNvSpPr/>
          <p:nvPr/>
        </p:nvSpPr>
        <p:spPr>
          <a:xfrm>
            <a:off x="1016000" y="1498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Config:</a:t>
            </a:r>
            <a:r>
              <a:rPr lang="en-US" sz="16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raw text · word-unigram TF-IDF · Logistic Regression (C=1, no class weight, threshold 0.50, seed 3102)</a:t>
            </a:r>
            <a:endParaRPr lang="en-US" sz="1600" dirty="0"/>
          </a:p>
        </p:txBody>
      </p:sp>
      <p:graphicFrame>
        <p:nvGraphicFramePr>
          <p:cNvPr id="5" name="ticket1_baseline-table-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981200"/>
          <a:ext cx="7112000" cy="1905000"/>
        </p:xfrm>
        <a:graphic>
          <a:graphicData uri="http://schemas.openxmlformats.org/drawingml/2006/table">
            <a:tbl>
              <a:tblPr/>
              <a:tblGrid>
                <a:gridCol w="2150143"/>
                <a:gridCol w="1653952"/>
                <a:gridCol w="1653952"/>
                <a:gridCol w="1653952"/>
              </a:tblGrid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Metric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Dev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Held-out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Reference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0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Precision-1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0.7909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0.8014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0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Recall-1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0.6931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0.7034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0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F1-1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0.7492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0.7574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icket1_baseline-text-5"/>
          <p:cNvSpPr/>
          <p:nvPr/>
        </p:nvSpPr>
        <p:spPr>
          <a:xfrm>
            <a:off x="1016000" y="40386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1C1C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Held-out gap to reference = −0.0082, exceeding the declared ±0.001 tolerance.</a:t>
            </a:r>
            <a:endParaRPr lang="en-US" sz="1500" dirty="0"/>
          </a:p>
        </p:txBody>
      </p:sp>
      <p:sp>
        <p:nvSpPr>
          <p:cNvPr id="7" name="ticket1_baseline-text-6"/>
          <p:cNvSpPr/>
          <p:nvPr/>
        </p:nvSpPr>
        <p:spPr>
          <a:xfrm>
            <a:off x="1016000" y="49022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32 single-lever diagnostic probes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were run to attribute the gap:</a:t>
            </a:r>
            <a:endParaRPr lang="en-US" sz="1500" dirty="0"/>
          </a:p>
          <a:p>
            <a:pPr algn="l" marL="238125" indent="-238125">
              <a:lnSpc>
                <a:spcPts val="225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Disabling lowercasing: −0.0077 F1</a:t>
            </a:r>
            <a:endParaRPr lang="en-US" sz="1500" dirty="0"/>
          </a:p>
          <a:p>
            <a:pPr algn="l" marL="238125" indent="-238125">
              <a:lnSpc>
                <a:spcPts val="225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Word bigrams: −0.0101 F1</a:t>
            </a:r>
            <a:endParaRPr lang="en-US" sz="1500" dirty="0"/>
          </a:p>
          <a:p>
            <a:pPr algn="l" marL="238125" indent="-238125">
              <a:lnSpc>
                <a:spcPts val="225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liblinear solver: −0.0001 F1, flips dev ID 5282 to a false negative</a:t>
            </a:r>
            <a:endParaRPr lang="en-US" sz="1500" dirty="0"/>
          </a:p>
          <a:p>
            <a:pPr algn="l" marL="238125" indent="-238125">
              <a:lnSpc>
                <a:spcPts val="225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Balanced class weights: +0.0133 F1 (the only lever later admitted, in Ticket 4)</a:t>
            </a:r>
            <a:endParaRPr lang="en-US" sz="1500" dirty="0"/>
          </a:p>
          <a:p>
            <a:pPr algn="l" indent="0" marL="0">
              <a:lnSpc>
                <a:spcPts val="2250"/>
              </a:lnSpc>
              <a:spcBef>
                <a:spcPts val="8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No published reference configuration or prediction file exists, so the gap is documented and 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left unresolved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rather than silently closed.</a:t>
            </a:r>
            <a:endParaRPr lang="en-US" sz="1500" dirty="0"/>
          </a:p>
        </p:txBody>
      </p:sp>
      <p:pic>
        <p:nvPicPr>
          <p:cNvPr id="8" name="ticket1_baseline-image-7" descr="preencoded.png">    </p:cNvPr>
          <p:cNvPicPr>
            <a:picLocks noChangeAspect="1"/>
          </p:cNvPicPr>
          <p:nvPr/>
        </p:nvPicPr>
        <p:blipFill>
          <a:blip r:embed="rId1"/>
          <a:srcRect l="0" r="0" t="-25121" b="-25121"/>
          <a:stretch/>
        </p:blipFill>
        <p:spPr>
          <a:xfrm>
            <a:off x="8509000" y="1651000"/>
            <a:ext cx="6731000" cy="5588000"/>
          </a:xfrm>
          <a:prstGeom prst="rect">
            <a:avLst/>
          </a:prstGeom>
        </p:spPr>
      </p:pic>
      <p:sp>
        <p:nvSpPr>
          <p:cNvPr id="9" name="ticket1_baseline-text-8"/>
          <p:cNvSpPr/>
          <p:nvPr/>
        </p:nvSpPr>
        <p:spPr>
          <a:xfrm>
            <a:off x="8509000" y="73152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Dev-vs-held-out F1 deltas across all 32 probes (Pearson r=0.978). Source: figure_06_ticket1_dev_probe_deltas.png</a:t>
            </a:r>
            <a:endParaRPr lang="en-US" sz="1300" dirty="0"/>
          </a:p>
        </p:txBody>
      </p:sp>
      <p:sp>
        <p:nvSpPr>
          <p:cNvPr id="10" name="ticket1_baseline-text-9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et2_normalization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icket2_normalization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2: URL Placeholdering Is the One Normalization Lever with Exact Invariance Evidence</a:t>
            </a:r>
            <a:endParaRPr lang="en-US" sz="2300" dirty="0"/>
          </a:p>
        </p:txBody>
      </p:sp>
      <p:graphicFrame>
        <p:nvGraphicFramePr>
          <p:cNvPr id="6" name="ticket2_normalization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498600"/>
          <a:ext cx="14224000" cy="2222500"/>
        </p:xfrm>
        <a:graphic>
          <a:graphicData uri="http://schemas.openxmlformats.org/drawingml/2006/table">
            <a:tbl>
              <a:tblPr/>
              <a:tblGrid>
                <a:gridCol w="7450673"/>
                <a:gridCol w="3386663"/>
                <a:gridCol w="3386663"/>
              </a:tblGrid>
              <a:tr h="381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Variant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Dev F1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Decision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3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Raw text (control)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baseline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URL placeholder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0.7403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766E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adopted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63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Mention placeholder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no change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Punctuation to space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no change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Hashtag stripping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no change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Lowercasing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no change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Emoji placeholder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no change (0 rows affected)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icket2_normalization-shape-4"/>
          <p:cNvSpPr/>
          <p:nvPr/>
        </p:nvSpPr>
        <p:spPr>
          <a:xfrm>
            <a:off x="1016000" y="4064000"/>
            <a:ext cx="6604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icket2_normalization-text-5"/>
          <p:cNvSpPr/>
          <p:nvPr/>
        </p:nvSpPr>
        <p:spPr>
          <a:xfrm>
            <a:off x="1333500" y="42545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Robustness evidence</a:t>
            </a:r>
            <a:endParaRPr lang="en-US" sz="1600" dirty="0"/>
          </a:p>
        </p:txBody>
      </p:sp>
      <p:sp>
        <p:nvSpPr>
          <p:cNvPr id="7" name="ticket2_normalization-text-6"/>
          <p:cNvSpPr/>
          <p:nvPr/>
        </p:nvSpPr>
        <p:spPr>
          <a:xfrm>
            <a:off x="1333500" y="4699000"/>
            <a:ext cx="596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767 dev rows contain a URL. Under paired substitution, the raw model changed 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275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predictions while the URL-normalized model changed 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0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: exact invariance to link content.</a:t>
            </a:r>
            <a:endParaRPr lang="en-US" sz="1500" dirty="0"/>
          </a:p>
          <a:p>
            <a:pPr algn="l" indent="0" marL="0">
              <a:lnSpc>
                <a:spcPts val="2250"/>
              </a:lnSpc>
              <a:spcBef>
                <a:spcPts val="8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Held-out F1 rose from 0.7492 to 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0.7531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, fixing 22 false positives and 8 false negatives, at the cost of 4 new false positives and 15 new false negatives.</a:t>
            </a:r>
            <a:endParaRPr lang="en-US" sz="1500" dirty="0"/>
          </a:p>
        </p:txBody>
      </p:sp>
      <p:sp>
        <p:nvSpPr>
          <p:cNvPr id="8" name="ticket2_normalization-shape-7"/>
          <p:cNvSpPr/>
          <p:nvPr/>
        </p:nvSpPr>
        <p:spPr>
          <a:xfrm>
            <a:off x="8636000" y="4064000"/>
            <a:ext cx="6604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icket2_normalization-text-8"/>
          <p:cNvSpPr/>
          <p:nvPr/>
        </p:nvSpPr>
        <p:spPr>
          <a:xfrm>
            <a:off x="8953500" y="42545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Representative held-out cases</a:t>
            </a:r>
            <a:endParaRPr lang="en-US" sz="1600" dirty="0"/>
          </a:p>
        </p:txBody>
      </p:sp>
      <p:sp>
        <p:nvSpPr>
          <p:cNvPr id="10" name="ticket2_normalization-text-9"/>
          <p:cNvSpPr/>
          <p:nvPr/>
        </p:nvSpPr>
        <p:spPr>
          <a:xfrm>
            <a:off x="8953500" y="4699000"/>
            <a:ext cx="596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ID 773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(target 0, an ad tweet with two links): score 0.533 → 0.461, fixing a false positive.</a:t>
            </a:r>
            <a:endParaRPr lang="en-US" sz="1500" dirty="0"/>
          </a:p>
          <a:p>
            <a:pPr algn="l" indent="0" marL="0">
              <a:lnSpc>
                <a:spcPts val="2250"/>
              </a:lnSpc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ID 902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(target 1, a bioterrorism report with a link): score 0.509 → 0.499, becoming a new false negative — the mechanism's explicit cost.</a:t>
            </a:r>
            <a:endParaRPr lang="en-US" sz="1500" dirty="0"/>
          </a:p>
        </p:txBody>
      </p:sp>
      <p:sp>
        <p:nvSpPr>
          <p:cNvPr id="11" name="ticket2_normalization-text-10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et3_shortcuts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icket3_shortcuts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3: The Highest Dev Score Was Rejected Because It Collapsed Under a Robustness Probe</a:t>
            </a:r>
            <a:endParaRPr lang="en-US" sz="2300" dirty="0"/>
          </a:p>
        </p:txBody>
      </p:sp>
      <p:graphicFrame>
        <p:nvGraphicFramePr>
          <p:cNvPr id="7" name="ticket3_shortcuts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24000"/>
          <a:ext cx="7112000" cy="2286000"/>
        </p:xfrm>
        <a:graphic>
          <a:graphicData uri="http://schemas.openxmlformats.org/drawingml/2006/table">
            <a:tbl>
              <a:tblPr/>
              <a:tblGrid>
                <a:gridCol w="4741336"/>
                <a:gridCol w="2370664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Variant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Dev F1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Text-only (control)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Keyword-only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0.7074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Text + keyword + shallow features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0.7494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Text + location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Text + length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4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icket3_shortcuts-text-4"/>
          <p:cNvSpPr/>
          <p:nvPr/>
        </p:nvSpPr>
        <p:spPr>
          <a:xfrm>
            <a:off x="1016000" y="40132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Highest visible dev score, highlighted in red, was ultimately rejected.</a:t>
            </a:r>
            <a:endParaRPr lang="en-US" sz="1300" dirty="0"/>
          </a:p>
        </p:txBody>
      </p:sp>
      <p:sp>
        <p:nvSpPr>
          <p:cNvPr id="6" name="ticket3_shortcuts-shape-5"/>
          <p:cNvSpPr/>
          <p:nvPr/>
        </p:nvSpPr>
        <p:spPr>
          <a:xfrm>
            <a:off x="8636000" y="1524000"/>
            <a:ext cx="6604000" cy="419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icket3_shortcuts-text-6"/>
          <p:cNvSpPr/>
          <p:nvPr/>
        </p:nvSpPr>
        <p:spPr>
          <a:xfrm>
            <a:off x="8953500" y="17272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Why the top score was rejected</a:t>
            </a:r>
            <a:endParaRPr lang="en-US" sz="1600" dirty="0"/>
          </a:p>
        </p:txBody>
      </p:sp>
      <p:sp>
        <p:nvSpPr>
          <p:cNvPr id="8" name="ticket3_shortcuts-text-7"/>
          <p:cNvSpPr/>
          <p:nvPr/>
        </p:nvSpPr>
        <p:spPr>
          <a:xfrm>
            <a:off x="8953500" y="2184400"/>
            <a:ext cx="596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Masking the keyword field on the richest candidate changed 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702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predictions and collapsed its F1 from 0.7494 to 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0.6423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— a drop of 0.1071.</a:t>
            </a:r>
            <a:endParaRPr lang="en-US" sz="1500" dirty="0"/>
          </a:p>
          <a:p>
            <a:pPr algn="l" indent="0" marL="0">
              <a:lnSpc>
                <a:spcPts val="2325"/>
              </a:lnSpc>
              <a:spcBef>
                <a:spcPts val="8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591 dev-set location values never appeared in training, exposing a generalization risk in the metadata features.</a:t>
            </a:r>
            <a:endParaRPr lang="en-US" sz="1500" dirty="0"/>
          </a:p>
          <a:p>
            <a:pPr algn="l" indent="0" marL="0">
              <a:lnSpc>
                <a:spcPts val="2325"/>
              </a:lnSpc>
              <a:spcBef>
                <a:spcPts val="800"/>
              </a:spcBef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Decision: retain the text-only Ticket 1 baseline; the score gain was not causally tied to language understanding.</a:t>
            </a:r>
            <a:endParaRPr lang="en-US" sz="1500" dirty="0"/>
          </a:p>
        </p:txBody>
      </p:sp>
      <p:sp>
        <p:nvSpPr>
          <p:cNvPr id="9" name="ticket3_shortcuts-shape-8"/>
          <p:cNvSpPr/>
          <p:nvPr/>
        </p:nvSpPr>
        <p:spPr>
          <a:xfrm>
            <a:off x="1016000" y="6096000"/>
            <a:ext cx="711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icket3_shortcuts-text-9"/>
          <p:cNvSpPr/>
          <p:nvPr/>
        </p:nvSpPr>
        <p:spPr>
          <a:xfrm>
            <a:off x="1270000" y="62738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Dev ID 7</a:t>
            </a:r>
            <a:r>
              <a:rPr lang="en-US" sz="14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(target 1): "Just got sent this photo from Ruby #Alaska as smoke from #wildfires pours into a school" — keyword feature fixes a false negative.</a:t>
            </a:r>
            <a:endParaRPr lang="en-US" sz="1400" dirty="0"/>
          </a:p>
        </p:txBody>
      </p:sp>
      <p:sp>
        <p:nvSpPr>
          <p:cNvPr id="11" name="ticket3_shortcuts-shape-10"/>
          <p:cNvSpPr/>
          <p:nvPr/>
        </p:nvSpPr>
        <p:spPr>
          <a:xfrm>
            <a:off x="8636000" y="6096000"/>
            <a:ext cx="6604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icket3_shortcuts-text-11"/>
          <p:cNvSpPr/>
          <p:nvPr/>
        </p:nvSpPr>
        <p:spPr>
          <a:xfrm>
            <a:off x="8890000" y="62738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Dev ID 25</a:t>
            </a:r>
            <a:r>
              <a:rPr lang="en-US" sz="14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(target 0): "Summer is lovely" — the identical keyword score creates a false positive on the same lexical cue.</a:t>
            </a:r>
            <a:endParaRPr lang="en-US" sz="1400" dirty="0"/>
          </a:p>
        </p:txBody>
      </p:sp>
      <p:sp>
        <p:nvSpPr>
          <p:cNvPr id="13" name="ticket3_shortcuts-text-12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et4_decision_rule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icket4_decision_rule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4: Balanced Logistic Regression Wins on F1, at an Explicit Precision and Accuracy Cost</a:t>
            </a:r>
            <a:endParaRPr lang="en-US" sz="2300" dirty="0"/>
          </a:p>
        </p:txBody>
      </p:sp>
      <p:graphicFrame>
        <p:nvGraphicFramePr>
          <p:cNvPr id="8" name="ticket4_decision_rule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24000"/>
          <a:ext cx="7112000" cy="2540000"/>
        </p:xfrm>
        <a:graphic>
          <a:graphicData uri="http://schemas.openxmlformats.org/drawingml/2006/table">
            <a:tbl>
              <a:tblPr/>
              <a:tblGrid>
                <a:gridCol w="2370667"/>
                <a:gridCol w="1580444"/>
                <a:gridCol w="1580444"/>
                <a:gridCol w="1580444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Metric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Baseline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Balanced LR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Δ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Precision-1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0.8014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0.7444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B91C1C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−0.0570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Recall-1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0.7034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0.7569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766E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+0.0535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F1-1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0.7492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0.7506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766E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+0.0014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Accuracy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0.7978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0.7840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B91C1C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−0.0138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Fixed FN / New FP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35 fixed · 56 new</a:t>
                      </a:r>
                      <a:endParaRPr lang="en-US" sz="13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icket4_decision_rule-text-4"/>
          <p:cNvSpPr/>
          <p:nvPr/>
        </p:nvSpPr>
        <p:spPr>
          <a:xfrm>
            <a:off x="1016000" y="4318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The selection rule was declared before dev evaluation: maximize target-1 dev F1 across a bounded grid of 12 candidates (thresholds, class weights, regularization strengths, and one LinearSVC). Balanced LR at C=1, threshold 0.50, won that grid.</a:t>
            </a:r>
            <a:endParaRPr lang="en-US" sz="1500" dirty="0"/>
          </a:p>
        </p:txBody>
      </p:sp>
      <p:pic>
        <p:nvPicPr>
          <p:cNvPr id="6" name="ticket4_decision_rule-image-5" descr="preencoded.png">    </p:cNvPr>
          <p:cNvPicPr>
            <a:picLocks noChangeAspect="1"/>
          </p:cNvPicPr>
          <p:nvPr/>
        </p:nvPicPr>
        <p:blipFill>
          <a:blip r:embed="rId1"/>
          <a:srcRect l="0" r="0" t="-23493" b="-23493"/>
          <a:stretch/>
        </p:blipFill>
        <p:spPr>
          <a:xfrm>
            <a:off x="8509000" y="1498600"/>
            <a:ext cx="6731000" cy="5080000"/>
          </a:xfrm>
          <a:prstGeom prst="rect">
            <a:avLst/>
          </a:prstGeom>
        </p:spPr>
      </p:pic>
      <p:sp>
        <p:nvSpPr>
          <p:cNvPr id="7" name="ticket4_decision_rule-text-6"/>
          <p:cNvSpPr/>
          <p:nvPr/>
        </p:nvSpPr>
        <p:spPr>
          <a:xfrm>
            <a:off x="8509000" y="66548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Threshold sweep on dev: best-F1 threshold is 0.47 (F1=0.7494), close to but distinct from the default 0.50. Source: figure_01_threshold_sweep.png</a:t>
            </a:r>
            <a:endParaRPr lang="en-US" sz="1300" dirty="0"/>
          </a:p>
        </p:txBody>
      </p:sp>
      <p:sp>
        <p:nvSpPr>
          <p:cNvPr id="4" name="ticket4_decision_rule-text-7"/>
          <p:cNvSpPr/>
          <p:nvPr/>
        </p:nvSpPr>
        <p:spPr>
          <a:xfrm>
            <a:off x="1016000" y="7797800"/>
            <a:ext cx="142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Held-out: F1 gain is only +0.0014; recall rises 0.0535 while precision falls 0.0570 — a directional move, not a general quality improvement.</a:t>
            </a:r>
            <a:endParaRPr lang="en-US" sz="1300" dirty="0"/>
          </a:p>
        </p:txBody>
      </p:sp>
      <p:sp>
        <p:nvSpPr>
          <p:cNvPr id="9" name="ticket4_decision_rule-text-8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et5_data_quality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icket5_data_quality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5: Label Conflicts Are Widespread, but the Correction Probe Failed Its Own Gates</a:t>
            </a:r>
            <a:endParaRPr lang="en-US" sz="2300" dirty="0"/>
          </a:p>
        </p:txBody>
      </p:sp>
      <p:graphicFrame>
        <p:nvGraphicFramePr>
          <p:cNvPr id="9" name="ticket5_data_quality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49400"/>
          <a:ext cx="7112000" cy="1905000"/>
        </p:xfrm>
        <a:graphic>
          <a:graphicData uri="http://schemas.openxmlformats.org/drawingml/2006/table">
            <a:tbl>
              <a:tblPr/>
              <a:tblGrid>
                <a:gridCol w="2473741"/>
                <a:gridCol w="1546086"/>
                <a:gridCol w="1546086"/>
                <a:gridCol w="1546086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Duplicate type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Groups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Conflicting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Cross-split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Raw exact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69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18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41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Canonicalized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292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64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194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Near-duplicate pairs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960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186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546</a:t>
                      </a:r>
                      <a:endParaRPr lang="en-US" sz="13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ticket5_data_quality-image-4" descr="preencoded.png">    </p:cNvPr>
          <p:cNvPicPr>
            <a:picLocks noChangeAspect="1"/>
          </p:cNvPicPr>
          <p:nvPr/>
        </p:nvPicPr>
        <p:blipFill>
          <a:blip r:embed="rId1"/>
          <a:srcRect l="0" r="0" t="-448" b="-448"/>
          <a:stretch/>
        </p:blipFill>
        <p:spPr>
          <a:xfrm>
            <a:off x="8636000" y="1498600"/>
            <a:ext cx="6604000" cy="3810000"/>
          </a:xfrm>
          <a:prstGeom prst="rect">
            <a:avLst/>
          </a:prstGeom>
        </p:spPr>
      </p:pic>
      <p:sp>
        <p:nvSpPr>
          <p:cNvPr id="6" name="ticket5_data_quality-text-5"/>
          <p:cNvSpPr/>
          <p:nvPr/>
        </p:nvSpPr>
        <p:spPr>
          <a:xfrm>
            <a:off x="8636000" y="5359400"/>
            <a:ext cx="660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64-row audit dispositions. Source: figure_04_data_quality_dispositions.png</a:t>
            </a:r>
            <a:endParaRPr lang="en-US" sz="1300" dirty="0"/>
          </a:p>
        </p:txBody>
      </p:sp>
      <p:sp>
        <p:nvSpPr>
          <p:cNvPr id="7" name="ticket5_data_quality-shape-6"/>
          <p:cNvSpPr/>
          <p:nvPr/>
        </p:nvSpPr>
        <p:spPr>
          <a:xfrm>
            <a:off x="1016000" y="3708400"/>
            <a:ext cx="7112000" cy="177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icket5_data_quality-text-7"/>
          <p:cNvSpPr/>
          <p:nvPr/>
        </p:nvSpPr>
        <p:spPr>
          <a:xfrm>
            <a:off x="1333500" y="38862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8-row correction probe</a:t>
            </a:r>
            <a:endParaRPr lang="en-US" sz="1600" dirty="0"/>
          </a:p>
        </p:txBody>
      </p:sp>
      <p:sp>
        <p:nvSpPr>
          <p:cNvPr id="4" name="ticket5_data_quality-text-8"/>
          <p:cNvSpPr/>
          <p:nvPr/>
        </p:nvSpPr>
        <p:spPr>
          <a:xfrm>
            <a:off x="1333500" y="43434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Dev F1: 0.7521 → </a:t>
            </a:r>
            <a:r>
              <a:rPr lang="en-US" sz="1450" b="1" dirty="0">
                <a:solidFill>
                  <a:srgbClr val="B91C1C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0.7489</a:t>
            </a:r>
            <a:r>
              <a:rPr lang="en-US" sz="14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(−0.0032). Fixed 3 errors but created 8 new ones — both adoption gates failed.</a:t>
            </a:r>
            <a:endParaRPr lang="en-US" sz="1450" dirty="0"/>
          </a:p>
        </p:txBody>
      </p:sp>
      <p:sp>
        <p:nvSpPr>
          <p:cNvPr id="10" name="ticket5_data_quality-shape-9"/>
          <p:cNvSpPr/>
          <p:nvPr/>
        </p:nvSpPr>
        <p:spPr>
          <a:xfrm>
            <a:off x="1016000" y="6096000"/>
            <a:ext cx="14224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icket5_data_quality-text-10"/>
          <p:cNvSpPr/>
          <p:nvPr/>
        </p:nvSpPr>
        <p:spPr>
          <a:xfrm>
            <a:off x="1333500" y="6299200"/>
            <a:ext cx="1358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Decision: retain the Ticket 4 balanced Logistic Regression with 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no source label changes</a:t>
            </a: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. Representative cases — held-out ID 5760 ("no forest fires") is a valid hard negative, not a mislabel; IDs 6220/6223 share identical D.B. Cooper image text with opposite held-out labels and remain flagged ambiguous rather than silently resolved.</a:t>
            </a:r>
            <a:endParaRPr lang="en-US" sz="1500" dirty="0"/>
          </a:p>
        </p:txBody>
      </p:sp>
      <p:sp>
        <p:nvSpPr>
          <p:cNvPr id="12" name="ticket5_data_quality-text-11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oss_ticket_summary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cross_ticket_summary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Across Five Tickets, Protocol Discipline Outranks the Highest Post-Hoc Score</a:t>
            </a:r>
            <a:endParaRPr lang="en-US" sz="2200" dirty="0"/>
          </a:p>
        </p:txBody>
      </p:sp>
      <p:graphicFrame>
        <p:nvGraphicFramePr>
          <p:cNvPr id="10" name="cross_ticket_summary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498600"/>
          <a:ext cx="8890000" cy="2921000"/>
        </p:xfrm>
        <a:graphic>
          <a:graphicData uri="http://schemas.openxmlformats.org/drawingml/2006/table">
            <a:tbl>
              <a:tblPr/>
              <a:tblGrid>
                <a:gridCol w="904068"/>
                <a:gridCol w="2862879"/>
                <a:gridCol w="1958812"/>
                <a:gridCol w="1506782"/>
                <a:gridCol w="1657459"/>
              </a:tblGrid>
              <a:tr h="381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Ticket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Decision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Dev F1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Held-out F1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FN Fixed / FP New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T1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Baseline retained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0.7492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— / —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T2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URL norm. adopted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0.7403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0.7531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8 / 4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T3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Shortcut rejected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0.7388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0.7492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 / 0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T4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Balanced LR adopted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0.7521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0.7506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35 / 56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T5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Correction rejected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0.7521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0.7506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35 / 56</a:t>
                      </a:r>
                      <a:endParaRPr lang="en-US" sz="120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cross_ticket_summary-image-4" descr="preencoded.png">    </p:cNvPr>
          <p:cNvPicPr>
            <a:picLocks noChangeAspect="1"/>
          </p:cNvPicPr>
          <p:nvPr/>
        </p:nvPicPr>
        <p:blipFill>
          <a:blip r:embed="rId1"/>
          <a:srcRect l="0" r="0" t="-25400" b="-25400"/>
          <a:stretch/>
        </p:blipFill>
        <p:spPr>
          <a:xfrm>
            <a:off x="10160000" y="1498600"/>
            <a:ext cx="5080000" cy="3683000"/>
          </a:xfrm>
          <a:prstGeom prst="rect">
            <a:avLst/>
          </a:prstGeom>
        </p:spPr>
      </p:pic>
      <p:sp>
        <p:nvSpPr>
          <p:cNvPr id="6" name="cross_ticket_summary-text-5"/>
          <p:cNvSpPr/>
          <p:nvPr/>
        </p:nvSpPr>
        <p:spPr>
          <a:xfrm>
            <a:off x="10160000" y="5207000"/>
            <a:ext cx="508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Source: figure_02_dev_heldout_f1.png</a:t>
            </a:r>
            <a:endParaRPr lang="en-US" sz="1200" dirty="0"/>
          </a:p>
        </p:txBody>
      </p:sp>
      <p:sp>
        <p:nvSpPr>
          <p:cNvPr id="7" name="cross_ticket_summary-shape-6"/>
          <p:cNvSpPr/>
          <p:nvPr/>
        </p:nvSpPr>
        <p:spPr>
          <a:xfrm>
            <a:off x="1016000" y="5969000"/>
            <a:ext cx="14224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cross_ticket_summary-text-7"/>
          <p:cNvSpPr/>
          <p:nvPr/>
        </p:nvSpPr>
        <p:spPr>
          <a:xfrm>
            <a:off x="1333500" y="6172200"/>
            <a:ext cx="135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Why Ticket 2's held-out F1 (0.7531) is not the final model</a:t>
            </a:r>
            <a:endParaRPr lang="en-US" sz="1600" dirty="0"/>
          </a:p>
        </p:txBody>
      </p:sp>
      <p:sp>
        <p:nvSpPr>
          <p:cNvPr id="9" name="cross_ticket_summary-text-8"/>
          <p:cNvSpPr/>
          <p:nvPr/>
        </p:nvSpPr>
        <p:spPr>
          <a:xfrm>
            <a:off x="1333500" y="6629400"/>
            <a:ext cx="1358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Each ticket answers a different predeclared question under its own dev-only freeze. Selecting Ticket 2 only after observing every held-out score would violate the freeze protocol. The valid final model is the last dev-based frozen decision: the Ticket 4/5 balanced Logistic Regression.</a:t>
            </a:r>
            <a:endParaRPr lang="en-US" sz="1500" dirty="0"/>
          </a:p>
        </p:txBody>
      </p:sp>
      <p:sp>
        <p:nvSpPr>
          <p:cNvPr id="4" name="cross_ticket_summary-text-9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analysis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case_analysis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Case Evidence Reveals the Mechanism Behind Every Metric Shift, Not Just Its Size</a:t>
            </a:r>
            <a:endParaRPr lang="en-US" sz="2300" dirty="0"/>
          </a:p>
        </p:txBody>
      </p:sp>
      <p:graphicFrame>
        <p:nvGraphicFramePr>
          <p:cNvPr id="11" name="case_analysis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24000"/>
          <a:ext cx="14224000" cy="5969000"/>
        </p:xfrm>
        <a:graphic>
          <a:graphicData uri="http://schemas.openxmlformats.org/drawingml/2006/table">
            <a:tbl>
              <a:tblPr/>
              <a:tblGrid>
                <a:gridCol w="1053629"/>
                <a:gridCol w="1053629"/>
                <a:gridCol w="1229238"/>
                <a:gridCol w="1931648"/>
                <a:gridCol w="5619362"/>
                <a:gridCol w="3336495"/>
              </a:tblGrid>
              <a:tr h="4336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ID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Ticket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Label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Transition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Tweet summary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Note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9183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773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T2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FP → correct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Auto-parts ad with two links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URL norm. fixes a false positive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3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902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T2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correct → FN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Bioterrorism report with a link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Explicit cost of URL normalization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3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556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T4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FN → correct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Arson-related disaster report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Balanced LR fixes a false negative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3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59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T4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correct → FP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Link-heavy tweet tagged #nsfw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Precision cost of balanced weighting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3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5760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T5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model error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"no #forest fires" (negation)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Valid hard negative, not a mislabel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38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2619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T5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1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model error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"My iPod crashed" + fan hashtags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Flagged as a potential annotation issue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se_analysis-text-4"/>
          <p:cNvSpPr/>
          <p:nvPr/>
        </p:nvSpPr>
        <p:spPr>
          <a:xfrm>
            <a:off x="1016000" y="77724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A metric improvement must be paired with a transition analysis: the same F1 gain can bundle a defensible fix with an indefensible new error.</a:t>
            </a:r>
            <a:endParaRPr lang="en-US" sz="1300" dirty="0"/>
          </a:p>
        </p:txBody>
      </p:sp>
      <p:sp>
        <p:nvSpPr>
          <p:cNvPr id="6" name="case_analysis-text-5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llenges_limitations-shape-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challenges_limitations-text-2"/>
          <p:cNvSpPr/>
          <p:nvPr/>
        </p:nvSpPr>
        <p:spPr>
          <a:xfrm>
            <a:off x="1016000" y="457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Six Recurring Challenges Expose Systemic Risks in the Evaluation Pipeline</a:t>
            </a:r>
            <a:endParaRPr lang="en-US" sz="2200" dirty="0"/>
          </a:p>
        </p:txBody>
      </p:sp>
      <p:graphicFrame>
        <p:nvGraphicFramePr>
          <p:cNvPr id="12" name="challenges_limitations-table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460500"/>
          <a:ext cx="14224000" cy="4508500"/>
        </p:xfrm>
        <a:graphic>
          <a:graphicData uri="http://schemas.openxmlformats.org/drawingml/2006/table">
            <a:tbl>
              <a:tblPr/>
              <a:tblGrid>
                <a:gridCol w="4470400"/>
                <a:gridCol w="5283201"/>
                <a:gridCol w="4470400"/>
              </a:tblGrid>
              <a:tr h="382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Challenge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Evidence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3A8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Solution / Residual Risk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87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Baseline-reference mismatch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F1 gap 0.0082 &gt; 0.001 tolerance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32 probes run; gap left unresolved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Replay numerical drift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Max drift 1.11×10</a:t>
                      </a:r>
                      <a:r>
                        <a:rPr lang="en-US" sz="1250" baseline="15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-16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Explicit 10</a:t>
                      </a:r>
                      <a:r>
                        <a:rPr lang="en-US" sz="1250" baseline="150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-12</a:t>
                      </a: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 tolerance declared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Shortcut-feature dependence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Keyword masking: F1 −0.1071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Robustness probes; rich candidate rejected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Recall/precision tradeoff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35 FN fixed, 56 new FP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Full threshold sweep + confusion matrices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Duplicate / label conflicts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64-row audit, 292 canonical dup groups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4-way disposition; correction gated on dev, and failed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Emoji normalization, zero coverage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0 rows affected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SC" pitchFamily="34" charset="0"/>
                          <a:ea typeface="Microsoft YaHei" pitchFamily="34" charset="-122"/>
                          <a:cs typeface="Noto Sans SC" pitchFamily="34" charset="-120"/>
                        </a:rPr>
                        <a:t>Zero-coverage result retained as unresolved</a:t>
                      </a:r>
                      <a:endParaRPr lang="en-US" sz="1250" dirty="0">
                        <a:latin typeface="Noto Sans SC" charset="0"/>
                        <a:ea typeface="Microsoft YaHei" charset="0"/>
                        <a:cs typeface="Noto Sans S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hallenges_limitations-shape-4"/>
          <p:cNvSpPr/>
          <p:nvPr/>
        </p:nvSpPr>
        <p:spPr>
          <a:xfrm>
            <a:off x="1016000" y="6223000"/>
            <a:ext cx="14224000" cy="152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challenges_limitations-text-5"/>
          <p:cNvSpPr/>
          <p:nvPr/>
        </p:nvSpPr>
        <p:spPr>
          <a:xfrm>
            <a:off x="1333500" y="6400800"/>
            <a:ext cx="135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Methodological limitation</a:t>
            </a:r>
            <a:endParaRPr lang="en-US" sz="1600" dirty="0"/>
          </a:p>
        </p:txBody>
      </p:sp>
      <p:sp>
        <p:nvSpPr>
          <p:cNvPr id="7" name="challenges_limitations-text-6"/>
          <p:cNvSpPr/>
          <p:nvPr/>
        </p:nvSpPr>
        <p:spPr>
          <a:xfrm>
            <a:off x="1333500" y="68072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The impact of different hyperparameters was not exhaustively explored: candidate grids were bounded and predeclared on a single fixed dev split, with no confidence intervals, resampling, or external test set.</a:t>
            </a:r>
            <a:endParaRPr lang="en-US" sz="1450" dirty="0"/>
          </a:p>
        </p:txBody>
      </p:sp>
      <p:sp>
        <p:nvSpPr>
          <p:cNvPr id="8" name="challenges_limitations-text-7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lusion-shape-1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conclusion-text-2"/>
          <p:cNvSpPr/>
          <p:nvPr/>
        </p:nvSpPr>
        <p:spPr>
          <a:xfrm>
            <a:off x="1016000" y="508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1E3A8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Trustworthiness Comes From a Chain of Evidence, Not the Top Row of a Score Table</a:t>
            </a:r>
            <a:endParaRPr lang="en-US" sz="2600" dirty="0"/>
          </a:p>
        </p:txBody>
      </p:sp>
      <p:sp>
        <p:nvSpPr>
          <p:cNvPr id="4" name="conclusion-shape-3"/>
          <p:cNvSpPr/>
          <p:nvPr/>
        </p:nvSpPr>
        <p:spPr>
          <a:xfrm>
            <a:off x="2413000" y="1651000"/>
            <a:ext cx="11430000" cy="1143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conclusion-text-4"/>
          <p:cNvSpPr/>
          <p:nvPr/>
        </p:nvSpPr>
        <p:spPr>
          <a:xfrm>
            <a:off x="2794000" y="184150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Final frozen model:</a:t>
            </a:r>
            <a:r>
              <a:rPr lang="en-US" sz="15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raw word-unigram TF-IDF + balanced Logistic Regression (C=1.0, threshold 0.50, no label corrections) — recall 0.703 → 0.757, precision 0.801 → 0.744, F1 +0.0014</a:t>
            </a:r>
            <a:endParaRPr lang="en-US" sz="1550" dirty="0"/>
          </a:p>
        </p:txBody>
      </p:sp>
      <p:sp>
        <p:nvSpPr>
          <p:cNvPr id="6" name="conclusion-text-5"/>
          <p:cNvSpPr/>
          <p:nvPr/>
        </p:nvSpPr>
        <p:spPr>
          <a:xfrm>
            <a:off x="1778000" y="3149600"/>
            <a:ext cx="1270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1938" indent="-261938">
              <a:lnSpc>
                <a:spcPts val="264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5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2</a:t>
            </a:r>
            <a:r>
              <a:rPr lang="en-US" sz="16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— URL placeholdering is a credible improvement: a small F1 gain paired with exact substitution invariance.</a:t>
            </a:r>
            <a:endParaRPr lang="en-US" sz="1650" dirty="0"/>
          </a:p>
          <a:p>
            <a:pPr algn="l" marL="261938" indent="-261938">
              <a:lnSpc>
                <a:spcPts val="264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sz="165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3</a:t>
            </a:r>
            <a:r>
              <a:rPr lang="en-US" sz="16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— The highest dev score was rejected: keyword dependence made the gain untrustworthy under masking.</a:t>
            </a:r>
            <a:endParaRPr lang="en-US" sz="1650" dirty="0"/>
          </a:p>
          <a:p>
            <a:pPr algn="l" marL="261938" indent="-261938">
              <a:lnSpc>
                <a:spcPts val="264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sz="165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4</a:t>
            </a:r>
            <a:r>
              <a:rPr lang="en-US" sz="16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— Balanced weighting is defensible under the predeclared F1 criterion, but its held-out advantage is small.</a:t>
            </a:r>
            <a:endParaRPr lang="en-US" sz="1650" dirty="0"/>
          </a:p>
          <a:p>
            <a:pPr algn="l" marL="261938" indent="-261938">
              <a:lnSpc>
                <a:spcPts val="264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sz="1650" b="1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Ticket 5</a:t>
            </a:r>
            <a:r>
              <a:rPr lang="en-US" sz="1650" dirty="0">
                <a:solidFill>
                  <a:srgbClr val="0F172A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 — Data-quality issues are real, yet the correction probe failed its own gates; the conservative decision held.</a:t>
            </a:r>
            <a:endParaRPr lang="en-US" sz="1650" dirty="0"/>
          </a:p>
        </p:txBody>
      </p:sp>
      <p:sp>
        <p:nvSpPr>
          <p:cNvPr id="7" name="conclusion-shape-6"/>
          <p:cNvSpPr/>
          <p:nvPr/>
        </p:nvSpPr>
        <p:spPr>
          <a:xfrm>
            <a:off x="4318000" y="6959600"/>
            <a:ext cx="7620000" cy="9144"/>
          </a:xfrm>
          <a:prstGeom prst="line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conclusion-text-7"/>
          <p:cNvSpPr/>
          <p:nvPr/>
        </p:nvSpPr>
        <p:spPr>
          <a:xfrm>
            <a:off x="2286000" y="7239000"/>
            <a:ext cx="1168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1450" i="1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"Trustworthiness means convergence among controlled dev selection, expected directional movements, targeted robustness, stable-ID examples, and freeze provenance — not the highest score in a table."</a:t>
            </a:r>
            <a:endParaRPr lang="en-US" sz="1450" dirty="0"/>
          </a:p>
        </p:txBody>
      </p:sp>
      <p:sp>
        <p:nvSpPr>
          <p:cNvPr id="9" name="conclusion-text-8"/>
          <p:cNvSpPr/>
          <p:nvPr/>
        </p:nvSpPr>
        <p:spPr>
          <a:xfrm>
            <a:off x="14732000" y="85852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SC" pitchFamily="34" charset="0"/>
                <a:ea typeface="Microsoft YaHei" pitchFamily="34" charset="-122"/>
                <a:cs typeface="Noto Sans SC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 Pipeline Forensics</dc:title>
  <dc:subject>Text Classification Pipeline Forensics</dc:subject>
  <dc:creator>Manus</dc:creator>
  <cp:lastModifiedBy>Manus</cp:lastModifiedBy>
  <cp:revision>1</cp:revision>
  <dcterms:created xsi:type="dcterms:W3CDTF">2026-07-21T12:30:34Z</dcterms:created>
  <dcterms:modified xsi:type="dcterms:W3CDTF">2026-07-21T12:30:34Z</dcterms:modified>
</cp:coreProperties>
</file>